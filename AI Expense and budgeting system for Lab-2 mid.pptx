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70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2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6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55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5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0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0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3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5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4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7EBC40-7AAC-46FD-A3D6-1855127229E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12EEF-0197-49F6-A707-0CF53B97336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27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CD78-F4BD-A115-2B61-513DD20B7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8073"/>
            <a:ext cx="10058400" cy="171187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4400" dirty="0"/>
              <a:t>AI Expense and budgeting system for Lab </a:t>
            </a:r>
            <a:br>
              <a:rPr lang="en-US" sz="4400" dirty="0"/>
            </a:br>
            <a:r>
              <a:rPr lang="en-US" sz="4400" dirty="0"/>
              <a:t>Scope and Goal</a:t>
            </a:r>
            <a:br>
              <a:rPr lang="en-US" sz="4400" dirty="0"/>
            </a:br>
            <a:r>
              <a:rPr lang="en-US" sz="4400" dirty="0"/>
              <a:t>Group name : Griffins</a:t>
            </a: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F3499-8EFA-8A77-DDA5-7F078DCC2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1865103"/>
            <a:ext cx="10058400" cy="3127794"/>
          </a:xfrm>
        </p:spPr>
        <p:txBody>
          <a:bodyPr/>
          <a:lstStyle/>
          <a:p>
            <a:pPr algn="ctr"/>
            <a:r>
              <a:rPr lang="en-US" dirty="0"/>
              <a:t>Team members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Ahmad </a:t>
            </a:r>
            <a:r>
              <a:rPr lang="en-US" dirty="0" err="1"/>
              <a:t>sajjad</a:t>
            </a:r>
            <a:r>
              <a:rPr lang="en-US" dirty="0"/>
              <a:t> (2023-CS-81)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Ahmad </a:t>
            </a:r>
            <a:r>
              <a:rPr lang="en-US" dirty="0" err="1"/>
              <a:t>hassan</a:t>
            </a:r>
            <a:r>
              <a:rPr lang="en-US" dirty="0"/>
              <a:t>(2023-cs-77)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Atif </a:t>
            </a:r>
            <a:r>
              <a:rPr lang="en-US" dirty="0" err="1"/>
              <a:t>awan</a:t>
            </a:r>
            <a:r>
              <a:rPr lang="en-US" dirty="0"/>
              <a:t>(2023-cs-154)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Huzaifa Arshad(2023-cs-86)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4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A020-4012-73B6-E3C0-C23D5A34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400" dirty="0"/>
              <a:t> AI budgeting and expense for lab </a:t>
            </a:r>
            <a:br>
              <a:rPr lang="en-US" sz="4400" dirty="0"/>
            </a:br>
            <a:r>
              <a:rPr lang="en-US" sz="4400" dirty="0"/>
              <a:t>Project Vision and Goal (week 2 MVP)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05DF-6EF4-B7EF-3ADF-4DBD560C0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Vision: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To develop a lab-based AI budgeting and expense management system that applies artificial intelligence to financial data for accuracy, efficiency, and intelligent decision-making.</a:t>
            </a:r>
          </a:p>
          <a:p>
            <a:pPr marL="0" indent="0">
              <a:buNone/>
            </a:pPr>
            <a:r>
              <a:rPr lang="en-US" sz="3200" dirty="0"/>
              <a:t>Goal: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Demonstrate an MVP that automates expense management, optimizes lab budgeting, and improves decision support through data-driven insights.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2864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36A86-E3E0-BEC8-A87F-C82B1B24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7B4A-21C8-B3C9-6415-92A38FBE6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Scope Includes:</a:t>
            </a:r>
            <a:endParaRPr lang="en-US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Implement AI algorithms for automatic expense categorization.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Enable budget allocation, tracking, and real-time updates.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Provide a functional MVP dashboard for lab use.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Focused on small-scale lab deployment.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Showcase proof of concept (not enterprise-level).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9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E3B78E88-011C-20AD-C3E2-6DF2A9900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33085"/>
              </p:ext>
            </p:extLst>
          </p:nvPr>
        </p:nvGraphicFramePr>
        <p:xfrm>
          <a:off x="1264597" y="1915806"/>
          <a:ext cx="9873574" cy="35573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2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705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Sprint</a:t>
                      </a:r>
                      <a:r>
                        <a:rPr sz="1100" b="1" spc="-4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#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Duration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Scrum</a:t>
                      </a: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Master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Core</a:t>
                      </a:r>
                      <a:r>
                        <a:rPr sz="1100" b="1" spc="-6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Focus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222250">
                        <a:lnSpc>
                          <a:spcPct val="113599"/>
                        </a:lnSpc>
                        <a:spcBef>
                          <a:spcPts val="475"/>
                        </a:spcBef>
                      </a:pPr>
                      <a:r>
                        <a:rPr sz="1100" b="1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Key Deliverables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029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Week</a:t>
                      </a:r>
                      <a:r>
                        <a:rPr sz="1100" spc="-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Ahmad</a:t>
                      </a:r>
                      <a:r>
                        <a:rPr sz="1100" spc="3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Sajjad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Foundation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19380">
                        <a:lnSpc>
                          <a:spcPct val="113599"/>
                        </a:lnSpc>
                        <a:spcBef>
                          <a:spcPts val="45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Define</a:t>
                      </a:r>
                      <a:r>
                        <a:rPr sz="1100" spc="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scope,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set</a:t>
                      </a:r>
                      <a:r>
                        <a:rPr sz="1100" spc="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up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infrastructure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(GitHub),</a:t>
                      </a:r>
                      <a:r>
                        <a:rPr sz="1100" spc="-7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initial design.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207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Week</a:t>
                      </a:r>
                      <a:r>
                        <a:rPr sz="1100" spc="-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100" b="1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Atif</a:t>
                      </a: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Awan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 marR="147320">
                        <a:lnSpc>
                          <a:spcPct val="113599"/>
                        </a:lnSpc>
                        <a:spcBef>
                          <a:spcPts val="425"/>
                        </a:spcBef>
                      </a:pPr>
                      <a:r>
                        <a:rPr sz="1100" b="1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Authenticatio </a:t>
                      </a: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86690">
                        <a:lnSpc>
                          <a:spcPct val="113599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Implement </a:t>
                      </a: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user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Login/Logout, account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creation,</a:t>
                      </a:r>
                      <a:r>
                        <a:rPr sz="1100" spc="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security protocols.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095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Week</a:t>
                      </a:r>
                      <a:r>
                        <a:rPr sz="1100" spc="-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Ahmad</a:t>
                      </a:r>
                      <a:r>
                        <a:rPr sz="1100" spc="3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Hassan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20650" algn="just">
                        <a:lnSpc>
                          <a:spcPct val="113599"/>
                        </a:lnSpc>
                        <a:spcBef>
                          <a:spcPts val="40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Build</a:t>
                      </a:r>
                      <a:r>
                        <a:rPr sz="1100" spc="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core</a:t>
                      </a:r>
                      <a:r>
                        <a:rPr sz="1100" spc="3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APIs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(Express.js)</a:t>
                      </a: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for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expense/budg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et,</a:t>
                      </a:r>
                      <a:r>
                        <a:rPr sz="1100" spc="-8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CRUD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107950" marR="320675">
                        <a:lnSpc>
                          <a:spcPct val="113599"/>
                        </a:lnSpc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testing,</a:t>
                      </a:r>
                      <a:r>
                        <a:rPr sz="1100" spc="-1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prepare</a:t>
                      </a:r>
                      <a:r>
                        <a:rPr sz="1100" spc="6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AI </a:t>
                      </a: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datasets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86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Week</a:t>
                      </a:r>
                      <a:r>
                        <a:rPr sz="1100" spc="-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Huzaifa</a:t>
                      </a:r>
                      <a:r>
                        <a:rPr sz="1100" spc="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Arshad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Frontend/UI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76530">
                        <a:lnSpc>
                          <a:spcPct val="113599"/>
                        </a:lnSpc>
                        <a:spcBef>
                          <a:spcPts val="475"/>
                        </a:spcBef>
                      </a:pP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Develop </a:t>
                      </a: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Dashboard/R </a:t>
                      </a:r>
                      <a:r>
                        <a:rPr sz="1100" b="1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eporting</a:t>
                      </a:r>
                      <a:r>
                        <a:rPr sz="1100" b="1" spc="-1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UI,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backend integration, </a:t>
                      </a: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3">
            <a:extLst>
              <a:ext uri="{FF2B5EF4-FFF2-40B4-BE49-F238E27FC236}">
                <a16:creationId xmlns:a16="http://schemas.microsoft.com/office/drawing/2014/main" id="{592B6160-0398-979D-BD5B-5BA22C0728C8}"/>
              </a:ext>
            </a:extLst>
          </p:cNvPr>
          <p:cNvSpPr txBox="1"/>
          <p:nvPr/>
        </p:nvSpPr>
        <p:spPr>
          <a:xfrm>
            <a:off x="3314700" y="671252"/>
            <a:ext cx="4831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25" dirty="0">
                <a:solidFill>
                  <a:srgbClr val="1B1B1C"/>
                </a:solidFill>
                <a:latin typeface="Tahoma"/>
                <a:cs typeface="Tahoma"/>
              </a:rPr>
              <a:t>Condensed</a:t>
            </a:r>
            <a:r>
              <a:rPr b="1" spc="-8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b="1" spc="-145" dirty="0">
                <a:solidFill>
                  <a:srgbClr val="1B1B1C"/>
                </a:solidFill>
                <a:latin typeface="Tahoma"/>
                <a:cs typeface="Tahoma"/>
              </a:rPr>
              <a:t>AI</a:t>
            </a:r>
            <a:r>
              <a:rPr b="1" spc="-8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b="1" spc="-55" dirty="0">
                <a:solidFill>
                  <a:srgbClr val="1B1B1C"/>
                </a:solidFill>
                <a:latin typeface="Tahoma"/>
                <a:cs typeface="Tahoma"/>
              </a:rPr>
              <a:t>Budgeting</a:t>
            </a:r>
            <a:r>
              <a:rPr b="1" spc="-80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b="1" spc="-65" dirty="0">
                <a:solidFill>
                  <a:srgbClr val="1B1B1C"/>
                </a:solidFill>
                <a:latin typeface="Tahoma"/>
                <a:cs typeface="Tahoma"/>
              </a:rPr>
              <a:t>System</a:t>
            </a:r>
            <a:r>
              <a:rPr b="1" spc="-8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b="1" spc="-55" dirty="0">
                <a:solidFill>
                  <a:srgbClr val="1B1B1C"/>
                </a:solidFill>
                <a:latin typeface="Tahoma"/>
                <a:cs typeface="Tahoma"/>
              </a:rPr>
              <a:t>Sprint</a:t>
            </a:r>
            <a:r>
              <a:rPr b="1" spc="-80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b="1" spc="-20" dirty="0">
                <a:solidFill>
                  <a:srgbClr val="1B1B1C"/>
                </a:solidFill>
                <a:latin typeface="Tahoma"/>
                <a:cs typeface="Tahoma"/>
              </a:rPr>
              <a:t>Plan</a:t>
            </a:r>
            <a:endParaRPr>
              <a:latin typeface="Tahoma"/>
              <a:cs typeface="Tahoma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244DC83-A5F3-6568-A849-56CD131C9C18}"/>
              </a:ext>
            </a:extLst>
          </p:cNvPr>
          <p:cNvSpPr txBox="1"/>
          <p:nvPr/>
        </p:nvSpPr>
        <p:spPr>
          <a:xfrm>
            <a:off x="2984500" y="1384873"/>
            <a:ext cx="5491480" cy="3795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Here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is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the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most</a:t>
            </a:r>
            <a:r>
              <a:rPr sz="1100" spc="20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concise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summary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of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the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revised</a:t>
            </a:r>
            <a:r>
              <a:rPr sz="1100" spc="20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1B1B1C"/>
                </a:solidFill>
                <a:latin typeface="Tahoma"/>
                <a:cs typeface="Tahoma"/>
              </a:rPr>
              <a:t>6-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week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sprint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plan,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including</a:t>
            </a:r>
            <a:r>
              <a:rPr sz="1100" spc="20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the</a:t>
            </a:r>
            <a:r>
              <a:rPr sz="1100" spc="1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new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Authentication</a:t>
            </a:r>
            <a:r>
              <a:rPr sz="1100" spc="16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B1B1C"/>
                </a:solidFill>
                <a:latin typeface="Tahoma"/>
                <a:cs typeface="Tahoma"/>
              </a:rPr>
              <a:t>sprint.</a:t>
            </a: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2071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980439DA-888F-C4A3-C7E9-277333DE8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419831"/>
              </p:ext>
            </p:extLst>
          </p:nvPr>
        </p:nvGraphicFramePr>
        <p:xfrm>
          <a:off x="1289702" y="1632044"/>
          <a:ext cx="9737388" cy="413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4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4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9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258445" algn="just">
                        <a:lnSpc>
                          <a:spcPct val="113599"/>
                        </a:lnSpc>
                        <a:spcBef>
                          <a:spcPts val="400"/>
                        </a:spcBef>
                      </a:pP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visualization,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usability testing.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Week</a:t>
                      </a:r>
                      <a:r>
                        <a:rPr sz="1100" spc="-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R="8763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Ahmad</a:t>
                      </a:r>
                      <a:r>
                        <a:rPr sz="1100" spc="3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Sajjad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spc="-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sz="1100" b="1" spc="-3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Integration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14300">
                        <a:lnSpc>
                          <a:spcPct val="113599"/>
                        </a:lnSpc>
                        <a:spcBef>
                          <a:spcPts val="475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Embed</a:t>
                      </a:r>
                      <a:r>
                        <a:rPr sz="1100" spc="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AI </a:t>
                      </a: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model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(prediction/bu dgeting),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optimize</a:t>
                      </a:r>
                      <a:r>
                        <a:rPr sz="1100" spc="3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data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flow,</a:t>
                      </a:r>
                      <a:r>
                        <a:rPr sz="1100" spc="-6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perform</a:t>
                      </a:r>
                      <a:r>
                        <a:rPr sz="1100" spc="5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sz="1100" spc="1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testing.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8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Week</a:t>
                      </a:r>
                      <a:r>
                        <a:rPr sz="1100" spc="-4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Ahmad</a:t>
                      </a:r>
                      <a:r>
                        <a:rPr sz="1100" spc="3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Hassan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Finalization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2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Full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107950" marR="108585">
                        <a:lnSpc>
                          <a:spcPct val="113599"/>
                        </a:lnSpc>
                      </a:pP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end-to-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end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testing,</a:t>
                      </a:r>
                      <a:r>
                        <a:rPr sz="1100" spc="-1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final documentation</a:t>
                      </a:r>
                      <a:endParaRPr sz="1100" dirty="0">
                        <a:latin typeface="Tahoma"/>
                        <a:cs typeface="Tahoma"/>
                      </a:endParaRPr>
                    </a:p>
                    <a:p>
                      <a:pPr marL="107950" marR="139700">
                        <a:lnSpc>
                          <a:spcPct val="113599"/>
                        </a:lnSpc>
                      </a:pPr>
                      <a:r>
                        <a:rPr sz="1100" spc="-6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,</a:t>
                      </a:r>
                      <a:r>
                        <a:rPr sz="1100" spc="-3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System </a:t>
                      </a:r>
                      <a:r>
                        <a:rPr sz="1100" b="1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Demonstratio n</a:t>
                      </a:r>
                      <a:r>
                        <a:rPr sz="1100" spc="-25" dirty="0">
                          <a:solidFill>
                            <a:srgbClr val="1B1B1C"/>
                          </a:solidFill>
                          <a:latin typeface="Tahoma"/>
                          <a:cs typeface="Tahoma"/>
                        </a:rPr>
                        <a:t>.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9DF92B3A-09EC-310C-FFB7-712E26CA0D36}"/>
              </a:ext>
            </a:extLst>
          </p:cNvPr>
          <p:cNvSpPr/>
          <p:nvPr/>
        </p:nvSpPr>
        <p:spPr>
          <a:xfrm>
            <a:off x="1414542" y="5771609"/>
            <a:ext cx="9612548" cy="0"/>
          </a:xfrm>
          <a:custGeom>
            <a:avLst/>
            <a:gdLst/>
            <a:ahLst/>
            <a:cxnLst/>
            <a:rect l="l" t="t" r="r" b="b"/>
            <a:pathLst>
              <a:path w="5867400">
                <a:moveTo>
                  <a:pt x="0" y="0"/>
                </a:moveTo>
                <a:lnTo>
                  <a:pt x="58674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04EC921-FA71-FD6A-2169-825C92914C8C}"/>
              </a:ext>
            </a:extLst>
          </p:cNvPr>
          <p:cNvSpPr txBox="1"/>
          <p:nvPr/>
        </p:nvSpPr>
        <p:spPr>
          <a:xfrm>
            <a:off x="1358655" y="735606"/>
            <a:ext cx="940552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Would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you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like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focus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on</a:t>
            </a:r>
            <a:r>
              <a:rPr sz="1100" spc="-20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B1B1C"/>
                </a:solidFill>
                <a:latin typeface="Tahoma"/>
                <a:cs typeface="Tahoma"/>
              </a:rPr>
              <a:t>Scrum</a:t>
            </a:r>
            <a:r>
              <a:rPr sz="1100" b="1" spc="-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B1B1C"/>
                </a:solidFill>
                <a:latin typeface="Tahoma"/>
                <a:cs typeface="Tahoma"/>
              </a:rPr>
              <a:t>Master</a:t>
            </a:r>
            <a:r>
              <a:rPr sz="1100" b="1" spc="-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b="1" spc="-35" dirty="0">
                <a:solidFill>
                  <a:srgbClr val="1B1B1C"/>
                </a:solidFill>
                <a:latin typeface="Tahoma"/>
                <a:cs typeface="Tahoma"/>
              </a:rPr>
              <a:t>rotation</a:t>
            </a:r>
            <a:r>
              <a:rPr sz="1100" b="1" spc="-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or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1C"/>
                </a:solidFill>
                <a:latin typeface="Tahoma"/>
                <a:cs typeface="Tahoma"/>
              </a:rPr>
              <a:t>the</a:t>
            </a:r>
            <a:r>
              <a:rPr sz="1100" spc="-2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1B1B1C"/>
                </a:solidFill>
                <a:latin typeface="Tahoma"/>
                <a:cs typeface="Tahoma"/>
              </a:rPr>
              <a:t>AI</a:t>
            </a:r>
            <a:r>
              <a:rPr sz="1100" b="1" spc="-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B1B1C"/>
                </a:solidFill>
                <a:latin typeface="Tahoma"/>
                <a:cs typeface="Tahoma"/>
              </a:rPr>
              <a:t>Model</a:t>
            </a:r>
            <a:r>
              <a:rPr sz="1100" b="1" spc="-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1B1B1C"/>
                </a:solidFill>
                <a:latin typeface="Tahoma"/>
                <a:cs typeface="Tahoma"/>
              </a:rPr>
              <a:t>Integration</a:t>
            </a:r>
            <a:r>
              <a:rPr sz="1100" b="1" spc="-5" dirty="0">
                <a:solidFill>
                  <a:srgbClr val="1B1B1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B1B1C"/>
                </a:solidFill>
                <a:latin typeface="Tahoma"/>
                <a:cs typeface="Tahoma"/>
              </a:rPr>
              <a:t>tasks?</a:t>
            </a:r>
            <a:endParaRPr sz="11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8555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4514-FF03-F69C-4735-74D91E9E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Epic and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2CA8-D8C9-AA25-E755-6BBBB9BCF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Epic 1:</a:t>
            </a:r>
            <a:r>
              <a:rPr lang="en-US" dirty="0"/>
              <a:t> Expense Management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Track and validate lab expenses automatically.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Features: Auto-tracking, Categorization.</a:t>
            </a:r>
          </a:p>
          <a:p>
            <a:r>
              <a:rPr lang="en-US" b="1" dirty="0"/>
              <a:t>Epic 2:</a:t>
            </a:r>
            <a:r>
              <a:rPr lang="en-US" dirty="0"/>
              <a:t> Budget Planning &amp; Tracking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Set targets, generate reports, monitor utilization.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Features: Dashboard, Reports, Alerts.</a:t>
            </a:r>
          </a:p>
          <a:p>
            <a:r>
              <a:rPr lang="en-US" b="1" dirty="0"/>
              <a:t>Epic 3:</a:t>
            </a:r>
            <a:r>
              <a:rPr lang="en-US" dirty="0"/>
              <a:t> AI Predictions &amp; Insights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Forecast lab spending, detect anomalies.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Features: Forecasting, Recommendations.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DA23-861C-CEA8-71F1-BA9CDD7C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 err="1"/>
              <a:t>MoSCoW</a:t>
            </a:r>
            <a:r>
              <a:rPr lang="en-US" dirty="0"/>
              <a:t> Prioritization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B1D86C-D6BE-083D-93CC-350FCCCE0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53832"/>
              </p:ext>
            </p:extLst>
          </p:nvPr>
        </p:nvGraphicFramePr>
        <p:xfrm>
          <a:off x="1096963" y="3126105"/>
          <a:ext cx="10058400" cy="216574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411854189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97778918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21104791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52405460"/>
                    </a:ext>
                  </a:extLst>
                </a:gridCol>
              </a:tblGrid>
              <a:tr h="54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Have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Should Have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Could Have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059903"/>
                  </a:ext>
                </a:extLst>
              </a:tr>
              <a:tr h="54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Epic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Auto-tracking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287061"/>
                  </a:ext>
                </a:extLst>
              </a:tr>
              <a:tr h="54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Epic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982304"/>
                  </a:ext>
                </a:extLst>
              </a:tr>
              <a:tr h="54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Epic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28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17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F9DA-1934-3338-637D-7BD33973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/>
              <a:t>Product Backlog – User Stories</a:t>
            </a:r>
            <a:r>
              <a:rPr lang="en-US" dirty="0"/>
              <a:t> </a:t>
            </a:r>
            <a:r>
              <a:rPr lang="en-US" i="1" dirty="0"/>
              <a:t>(Week 5 )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6F73B7-970C-DEDF-759F-E8CAEF9BE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272984"/>
              </p:ext>
            </p:extLst>
          </p:nvPr>
        </p:nvGraphicFramePr>
        <p:xfrm>
          <a:off x="1097280" y="1846263"/>
          <a:ext cx="10058400" cy="402272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427459428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520807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1072005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53630438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555444940"/>
                    </a:ext>
                  </a:extLst>
                </a:gridCol>
              </a:tblGrid>
              <a:tr h="287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Sr No. 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 Story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Epic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Priority</a:t>
                      </a:r>
                    </a:p>
                  </a:txBody>
                  <a:tcPr marL="71834" marR="71834" marT="35917" marB="35917" anchor="ctr"/>
                </a:tc>
                <a:extLst>
                  <a:ext uri="{0D108BD9-81ED-4DB2-BD59-A6C34878D82A}">
                    <a16:rowId xmlns:a16="http://schemas.microsoft.com/office/drawing/2014/main" val="277483414"/>
                  </a:ext>
                </a:extLst>
              </a:tr>
              <a:tr h="1149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lab manager, I want automated expense tracking so I can avoid manual entry.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8 (L)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Must</a:t>
                      </a:r>
                    </a:p>
                  </a:txBody>
                  <a:tcPr marL="71834" marR="71834" marT="35917" marB="35917" anchor="ctr"/>
                </a:tc>
                <a:extLst>
                  <a:ext uri="{0D108BD9-81ED-4DB2-BD59-A6C34878D82A}">
                    <a16:rowId xmlns:a16="http://schemas.microsoft.com/office/drawing/2014/main" val="1830219812"/>
                  </a:ext>
                </a:extLst>
              </a:tr>
              <a:tr h="933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researcher, I want AI-based categorization for better insights.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 (M)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Should</a:t>
                      </a:r>
                    </a:p>
                  </a:txBody>
                  <a:tcPr marL="71834" marR="71834" marT="35917" marB="35917" anchor="ctr"/>
                </a:tc>
                <a:extLst>
                  <a:ext uri="{0D108BD9-81ED-4DB2-BD59-A6C34878D82A}">
                    <a16:rowId xmlns:a16="http://schemas.microsoft.com/office/drawing/2014/main" val="3872338191"/>
                  </a:ext>
                </a:extLst>
              </a:tr>
              <a:tr h="933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admin, I want a dashboard to monitor budgets in real-time.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13 (XL)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Must</a:t>
                      </a:r>
                    </a:p>
                  </a:txBody>
                  <a:tcPr marL="71834" marR="71834" marT="35917" marB="35917" anchor="ctr"/>
                </a:tc>
                <a:extLst>
                  <a:ext uri="{0D108BD9-81ED-4DB2-BD59-A6C34878D82A}">
                    <a16:rowId xmlns:a16="http://schemas.microsoft.com/office/drawing/2014/main" val="832049175"/>
                  </a:ext>
                </a:extLst>
              </a:tr>
              <a:tr h="718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4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 analyst, I want predictive alerts to detect anomalies.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8 (L)</a:t>
                      </a:r>
                    </a:p>
                  </a:txBody>
                  <a:tcPr marL="71834" marR="71834" marT="35917" marB="359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Could</a:t>
                      </a:r>
                    </a:p>
                  </a:txBody>
                  <a:tcPr marL="71834" marR="71834" marT="35917" marB="35917" anchor="ctr"/>
                </a:tc>
                <a:extLst>
                  <a:ext uri="{0D108BD9-81ED-4DB2-BD59-A6C34878D82A}">
                    <a16:rowId xmlns:a16="http://schemas.microsoft.com/office/drawing/2014/main" val="2117822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91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13F-A0F5-F61A-6C5A-DAC47C02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 Sprint 2 Plan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29EFC5D-6E2C-1B94-50C6-86DD48DAD3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087911"/>
              </p:ext>
            </p:extLst>
          </p:nvPr>
        </p:nvGraphicFramePr>
        <p:xfrm>
          <a:off x="1097280" y="1857983"/>
          <a:ext cx="10058400" cy="3949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25954233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4112487250"/>
                    </a:ext>
                  </a:extLst>
                </a:gridCol>
              </a:tblGrid>
              <a:tr h="7898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Priority Task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Story Points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4905236"/>
                  </a:ext>
                </a:extLst>
              </a:tr>
              <a:tr h="7898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Finalize Authentication System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12 SP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89591"/>
                  </a:ext>
                </a:extLst>
              </a:tr>
              <a:tr h="7898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Enhance Real-Time Visualization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8 SP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535542"/>
                  </a:ext>
                </a:extLst>
              </a:tr>
              <a:tr h="7898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Performance Optimization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7 SP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0326789"/>
                  </a:ext>
                </a:extLst>
              </a:tr>
              <a:tr h="7898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Testing &amp; QA Pipeline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5 SP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823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574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0013C-C4BA-C390-67EA-ED18E374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b="1" dirty="0"/>
              <a:t>Effort Estimation (Story Points)</a:t>
            </a:r>
            <a:r>
              <a:rPr lang="en-US" sz="3600" i="1" dirty="0"/>
              <a:t>(Week 6 Estimation Slide)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BB5C8B-1551-0C51-77C7-4CEDA20BFC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490180"/>
              </p:ext>
            </p:extLst>
          </p:nvPr>
        </p:nvGraphicFramePr>
        <p:xfrm>
          <a:off x="1096963" y="1877437"/>
          <a:ext cx="10058400" cy="426071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28594477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363883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85856117"/>
                    </a:ext>
                  </a:extLst>
                </a:gridCol>
              </a:tblGrid>
              <a:tr h="473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 (SP)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Size (T-Shirt)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486262"/>
                  </a:ext>
                </a:extLst>
              </a:tr>
              <a:tr h="8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 backend APIs with dashboard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(L)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172535"/>
                  </a:ext>
                </a:extLst>
              </a:tr>
              <a:tr h="8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 AI model for expense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 Large (XL)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54261"/>
                  </a:ext>
                </a:extLst>
              </a:tr>
              <a:tr h="8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and debug visualization 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 (M)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541447"/>
                  </a:ext>
                </a:extLst>
              </a:tr>
              <a:tr h="828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Refine database structure for data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668734"/>
                  </a:ext>
                </a:extLst>
              </a:tr>
              <a:tr h="473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Sprint review and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 Small (XS)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57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90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4229-3ED4-0B9B-543B-1DBFAECA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Velocity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A90537-D13A-E6EF-FFF1-4F7FB3308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3263" y="2486408"/>
            <a:ext cx="5758737" cy="3657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E54282-3103-7450-3B6F-829038E098B3}"/>
              </a:ext>
            </a:extLst>
          </p:cNvPr>
          <p:cNvSpPr txBox="1"/>
          <p:nvPr/>
        </p:nvSpPr>
        <p:spPr>
          <a:xfrm>
            <a:off x="1097280" y="1950877"/>
            <a:ext cx="6097656" cy="1071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Velocity Chart</a:t>
            </a:r>
          </a:p>
          <a:p>
            <a:pPr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This chart represents the planned vs completed story points for three sprints with 75–82%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91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488D97-D3CD-49B9-88DC-57BA0BE59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4178" y="2805267"/>
            <a:ext cx="6208788" cy="2999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0D0AF4-FE99-1490-5D31-F783B34CC946}"/>
              </a:ext>
            </a:extLst>
          </p:cNvPr>
          <p:cNvSpPr txBox="1"/>
          <p:nvPr/>
        </p:nvSpPr>
        <p:spPr>
          <a:xfrm>
            <a:off x="1097280" y="1810104"/>
            <a:ext cx="6097656" cy="1071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Kanban Board (Trello Style)</a:t>
            </a:r>
          </a:p>
          <a:p>
            <a:pPr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The following board represents the progress of key tasks across all sprints in a Trello-style view. 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8109042-B696-312C-7715-E4704917D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596637"/>
              </p:ext>
            </p:extLst>
          </p:nvPr>
        </p:nvGraphicFramePr>
        <p:xfrm>
          <a:off x="1097280" y="5347304"/>
          <a:ext cx="5486400" cy="9144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43226754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0296605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052443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5011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Sprint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Main Focus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Planned SP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Velocity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2469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Sprint 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Project Setup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75%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7167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Sprint 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Authentication System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80%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8262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Sprint 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Backend &amp; API Setup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82%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22102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64A253B-F009-EC27-DD83-95209FCD84C2}"/>
              </a:ext>
            </a:extLst>
          </p:cNvPr>
          <p:cNvSpPr txBox="1"/>
          <p:nvPr/>
        </p:nvSpPr>
        <p:spPr>
          <a:xfrm>
            <a:off x="1097280" y="4890103"/>
            <a:ext cx="6097656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Sprint Overview Summary</a:t>
            </a:r>
          </a:p>
        </p:txBody>
      </p:sp>
    </p:spTree>
    <p:extLst>
      <p:ext uri="{BB962C8B-B14F-4D97-AF65-F5344CB8AC3E}">
        <p14:creationId xmlns:p14="http://schemas.microsoft.com/office/powerpoint/2010/main" val="302373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67E4E2ED-7528-85C1-4F8F-E5C71F0A5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230" y="603115"/>
            <a:ext cx="10000034" cy="5564222"/>
          </a:xfrm>
        </p:spPr>
      </p:pic>
    </p:spTree>
    <p:extLst>
      <p:ext uri="{BB962C8B-B14F-4D97-AF65-F5344CB8AC3E}">
        <p14:creationId xmlns:p14="http://schemas.microsoft.com/office/powerpoint/2010/main" val="1060262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686D-C5E1-E5C8-5FCB-91A662EE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 Sprint Retrospective (Sprint 1)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C0F0CB3-D40B-70B2-52CB-015A7A5F7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34726"/>
              </p:ext>
            </p:extLst>
          </p:nvPr>
        </p:nvGraphicFramePr>
        <p:xfrm>
          <a:off x="1097280" y="1987825"/>
          <a:ext cx="10058400" cy="39855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89076013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0979884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425519827"/>
                    </a:ext>
                  </a:extLst>
                </a:gridCol>
              </a:tblGrid>
              <a:tr h="11227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What Went Well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What Didn’t Go Well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Improvements</a:t>
                      </a:r>
                      <a:r>
                        <a:rPr lang="en-US" sz="1100" dirty="0">
                          <a:effectLst/>
                        </a:rPr>
                        <a:t> for Next Sprint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1771372"/>
                  </a:ext>
                </a:extLst>
              </a:tr>
              <a:tr h="28628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Backend infrastructure completed and tested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• UI/UX design system implemented successfully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• Strong team collaboration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Authentication complexity underestimated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• Visualization library delays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• Missed early dependency checks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• Improve estimation accuracy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• Identify dependencies early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• Allocate buffer for complex integrations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679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206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A7E5-FF2A-8F60-44CD-08D4EC1D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Final Sprint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B203-C0E4-8474-5C18-B472C50F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Goal:</a:t>
            </a:r>
            <a:r>
              <a:rPr lang="en-US" dirty="0"/>
              <a:t> Deliver AI Dashboard MVP</a:t>
            </a:r>
            <a:br>
              <a:rPr lang="en-US" dirty="0"/>
            </a:br>
            <a:endParaRPr lang="en-US" dirty="0"/>
          </a:p>
          <a:p>
            <a:endParaRPr lang="en-US" b="1" dirty="0"/>
          </a:p>
          <a:p>
            <a:r>
              <a:rPr lang="en-US" b="1" dirty="0"/>
              <a:t>Key Outputs: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Backend connected to AI module.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Real-time data visualizations.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Expense categorization working.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Predictive analytics initiated.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806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C2AA-A463-0C58-F54E-53E75DFC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89B360-9924-2D57-EBB8-BF18D77EF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5101" y="2313666"/>
            <a:ext cx="92334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3 simulated sprints (Avg. Velocity: 74%)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Budgeting System MVP ready for demo.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successfully implemented with Trello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 improved sprint by sprint.</a:t>
            </a:r>
          </a:p>
        </p:txBody>
      </p:sp>
    </p:spTree>
    <p:extLst>
      <p:ext uri="{BB962C8B-B14F-4D97-AF65-F5344CB8AC3E}">
        <p14:creationId xmlns:p14="http://schemas.microsoft.com/office/powerpoint/2010/main" val="2428558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673</TotalTime>
  <Words>842</Words>
  <Application>Microsoft Office PowerPoint</Application>
  <PresentationFormat>Widescreen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Courier New</vt:lpstr>
      <vt:lpstr>Tahoma</vt:lpstr>
      <vt:lpstr>Times New Roman</vt:lpstr>
      <vt:lpstr>Retrospect</vt:lpstr>
      <vt:lpstr>AI Expense and budgeting system for Lab  Scope and Goal Group name : Griffins    </vt:lpstr>
      <vt:lpstr> AI budgeting and expense for lab  Project Vision and Goal (week 2 MVP)</vt:lpstr>
      <vt:lpstr>Project Scope</vt:lpstr>
      <vt:lpstr>PowerPoint Presentation</vt:lpstr>
      <vt:lpstr>PowerPoint Presentation</vt:lpstr>
      <vt:lpstr>Epic and Features </vt:lpstr>
      <vt:lpstr>MoSCoW Prioritization Table</vt:lpstr>
      <vt:lpstr>Product Backlog – User Stories (Week 5 )</vt:lpstr>
      <vt:lpstr> Sprint 2 Plan</vt:lpstr>
      <vt:lpstr>Effort Estimation (Story Points)(Week 6 Estimation Slide)</vt:lpstr>
      <vt:lpstr>Velocity Chart</vt:lpstr>
      <vt:lpstr>PowerPoint Presentation</vt:lpstr>
      <vt:lpstr>PowerPoint Presentation</vt:lpstr>
      <vt:lpstr> Sprint Retrospective (Sprint 1)</vt:lpstr>
      <vt:lpstr>Final Sprint 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Atif Awan</dc:creator>
  <cp:lastModifiedBy>Atif Awan</cp:lastModifiedBy>
  <cp:revision>6</cp:revision>
  <dcterms:created xsi:type="dcterms:W3CDTF">2025-11-02T08:52:24Z</dcterms:created>
  <dcterms:modified xsi:type="dcterms:W3CDTF">2025-11-02T20:06:22Z</dcterms:modified>
</cp:coreProperties>
</file>